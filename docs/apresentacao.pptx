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52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Olá. Este é o nosso trabalho de [disciplina], desenvolvido por [Nome 1], [Nome 2] e [Nome 3].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nosso projeto responde a um problema do dia a dia: para uma pessoa celíaca, ou com alergias alimentares, ler o rótulo de um produto e perceber se o pode comer é difícil e demorado. Os ingredientes têm nomes técnicos, estão em letras pequenas, e muitas vezes em várias línguas. A nossa proposta é um sistema de inteligência artificial que faz esse trabalho automaticamente, a partir de uma simples fotografia do rótulo.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sistema recebe a foto de um rótulo, ou o texto dos ingredientes, e devolve quatro coisas. Primeiro, deteta a presença de glúten. Segundo, identifica quais dos catorze alergénios obrigatórios da União Europeia estão presentes — os do Regulamento mil cento e sessenta e nove de dois mil e onze. Terceiro, assinala os ingredientes ambíguos, que podem ou não conter glúten consoante a origem. E quarto, atribui um grau de risco. Mas o ponto mais importante é que o resultado é explicável: o sistema não dá apenas um veredicto, justifica-o ingrediente a ingrediente.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Construímos um pipeline com seis etapas, que reutiliza os conceitos das aulas. A primeira é o OCR, que converte a imagem em texto com o Tesseract e pré-processamento em OpenCV. A segunda é o processamento de linguagem natural, que limpa o texto, separa os ingredientes e faz correspondência com o léxico usando distâncias como Levenshtein e Jaccard. A terceira é a classificação, que combina regras com modelos de aprendizagem automática. A quarta é o motor de explicação. A quinta gera o relatório final. E a sexta é a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Uma pergunta natural é: porque não usámos um modelo de linguagem grande, como o ChatGPT? Por duas razões. Primeiro, porque o objetivo do trabalho era aplicar os conceitos das aulas. E segundo, porque um modelo desses seria uma caixa preta — não conseguiríamos justificar cada decisão, que é precisamente o requisito central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Vamos </a:t>
            </a:r>
            <a:r>
              <a:rPr dirty="0" err="1"/>
              <a:t>ver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a </a:t>
            </a:r>
            <a:r>
              <a:rPr dirty="0" err="1"/>
              <a:t>funcionar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web. </a:t>
            </a:r>
            <a:r>
              <a:rPr dirty="0" err="1"/>
              <a:t>Começo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colar</a:t>
            </a:r>
            <a:r>
              <a:rPr dirty="0"/>
              <a:t> a </a:t>
            </a:r>
            <a:r>
              <a:rPr dirty="0" err="1"/>
              <a:t>lista</a:t>
            </a:r>
            <a:r>
              <a:rPr dirty="0"/>
              <a:t> de </a:t>
            </a:r>
            <a:r>
              <a:rPr dirty="0" err="1"/>
              <a:t>ingredientes</a:t>
            </a:r>
            <a:r>
              <a:rPr dirty="0"/>
              <a:t> de um </a:t>
            </a:r>
            <a:r>
              <a:rPr dirty="0" err="1"/>
              <a:t>produto</a:t>
            </a:r>
            <a:r>
              <a:rPr dirty="0"/>
              <a:t> com </a:t>
            </a:r>
            <a:r>
              <a:rPr dirty="0" err="1"/>
              <a:t>glúten</a:t>
            </a:r>
            <a:r>
              <a:rPr dirty="0"/>
              <a:t>: </a:t>
            </a:r>
            <a:r>
              <a:rPr dirty="0" err="1"/>
              <a:t>aveia</a:t>
            </a:r>
            <a:r>
              <a:rPr dirty="0"/>
              <a:t>, </a:t>
            </a:r>
            <a:r>
              <a:rPr dirty="0" err="1"/>
              <a:t>malte</a:t>
            </a:r>
            <a:r>
              <a:rPr dirty="0"/>
              <a:t> de </a:t>
            </a:r>
            <a:r>
              <a:rPr dirty="0" err="1"/>
              <a:t>cevada</a:t>
            </a:r>
            <a:r>
              <a:rPr dirty="0"/>
              <a:t>, farinha de trigo, </a:t>
            </a:r>
            <a:r>
              <a:rPr dirty="0" err="1"/>
              <a:t>açúcar</a:t>
            </a:r>
            <a:r>
              <a:rPr dirty="0"/>
              <a:t>, </a:t>
            </a:r>
            <a:r>
              <a:rPr dirty="0" err="1"/>
              <a:t>óleo</a:t>
            </a:r>
            <a:r>
              <a:rPr dirty="0"/>
              <a:t> e </a:t>
            </a:r>
            <a:r>
              <a:rPr dirty="0" err="1"/>
              <a:t>sal</a:t>
            </a:r>
            <a:r>
              <a:rPr dirty="0"/>
              <a:t>. O </a:t>
            </a:r>
            <a:r>
              <a:rPr dirty="0" err="1"/>
              <a:t>resultado</a:t>
            </a:r>
            <a:r>
              <a:rPr dirty="0"/>
              <a:t> é </a:t>
            </a:r>
            <a:r>
              <a:rPr dirty="0" err="1"/>
              <a:t>imediato</a:t>
            </a:r>
            <a:r>
              <a:rPr dirty="0"/>
              <a:t>: o </a:t>
            </a:r>
            <a:r>
              <a:rPr dirty="0" err="1"/>
              <a:t>veredicto</a:t>
            </a:r>
            <a:r>
              <a:rPr dirty="0"/>
              <a:t> '</a:t>
            </a:r>
            <a:r>
              <a:rPr dirty="0" err="1"/>
              <a:t>Contém</a:t>
            </a:r>
            <a:r>
              <a:rPr dirty="0"/>
              <a:t> </a:t>
            </a:r>
            <a:r>
              <a:rPr dirty="0" err="1"/>
              <a:t>Glúten</a:t>
            </a:r>
            <a:r>
              <a:rPr dirty="0"/>
              <a:t>', a </a:t>
            </a:r>
            <a:r>
              <a:rPr dirty="0" err="1"/>
              <a:t>vermelho</a:t>
            </a:r>
            <a:r>
              <a:rPr dirty="0"/>
              <a:t>. Na </a:t>
            </a:r>
            <a:r>
              <a:rPr dirty="0" err="1"/>
              <a:t>tabela</a:t>
            </a:r>
            <a:r>
              <a:rPr dirty="0"/>
              <a:t>, a </a:t>
            </a:r>
            <a:r>
              <a:rPr dirty="0" err="1"/>
              <a:t>aveia</a:t>
            </a:r>
            <a:r>
              <a:rPr dirty="0"/>
              <a:t>, a </a:t>
            </a:r>
            <a:r>
              <a:rPr dirty="0" err="1"/>
              <a:t>cevada</a:t>
            </a:r>
            <a:r>
              <a:rPr dirty="0"/>
              <a:t> e o trigo </a:t>
            </a:r>
            <a:r>
              <a:rPr dirty="0" err="1"/>
              <a:t>aparecem</a:t>
            </a:r>
            <a:r>
              <a:rPr dirty="0"/>
              <a:t> com </a:t>
            </a:r>
            <a:r>
              <a:rPr dirty="0" err="1"/>
              <a:t>cruz</a:t>
            </a:r>
            <a:r>
              <a:rPr dirty="0"/>
              <a:t> </a:t>
            </a:r>
            <a:r>
              <a:rPr dirty="0" err="1"/>
              <a:t>vermelha</a:t>
            </a:r>
            <a:r>
              <a:rPr dirty="0"/>
              <a:t>, 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diz</a:t>
            </a:r>
            <a:r>
              <a:rPr dirty="0"/>
              <a:t> </a:t>
            </a:r>
            <a:r>
              <a:rPr dirty="0" err="1"/>
              <a:t>porquê</a:t>
            </a:r>
            <a:r>
              <a:rPr dirty="0"/>
              <a:t>. O </a:t>
            </a:r>
            <a:r>
              <a:rPr dirty="0" err="1"/>
              <a:t>açúcar</a:t>
            </a:r>
            <a:r>
              <a:rPr dirty="0"/>
              <a:t>, o </a:t>
            </a:r>
            <a:r>
              <a:rPr dirty="0" err="1"/>
              <a:t>óleo</a:t>
            </a:r>
            <a:r>
              <a:rPr dirty="0"/>
              <a:t> e o </a:t>
            </a:r>
            <a:r>
              <a:rPr dirty="0" err="1"/>
              <a:t>sal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a </a:t>
            </a:r>
            <a:r>
              <a:rPr dirty="0" err="1"/>
              <a:t>verde</a:t>
            </a:r>
            <a:r>
              <a:rPr dirty="0"/>
              <a:t>. Agora um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seguro</a:t>
            </a:r>
            <a:r>
              <a:rPr dirty="0"/>
              <a:t>: </a:t>
            </a:r>
            <a:r>
              <a:rPr dirty="0" err="1"/>
              <a:t>água</a:t>
            </a:r>
            <a:r>
              <a:rPr dirty="0"/>
              <a:t>, </a:t>
            </a:r>
            <a:r>
              <a:rPr dirty="0" err="1"/>
              <a:t>tomate</a:t>
            </a:r>
            <a:r>
              <a:rPr dirty="0"/>
              <a:t>, </a:t>
            </a:r>
            <a:r>
              <a:rPr dirty="0" err="1"/>
              <a:t>cenoura</a:t>
            </a:r>
            <a:r>
              <a:rPr dirty="0"/>
              <a:t>, </a:t>
            </a:r>
            <a:r>
              <a:rPr dirty="0" err="1"/>
              <a:t>cebola</a:t>
            </a:r>
            <a:r>
              <a:rPr dirty="0"/>
              <a:t>, </a:t>
            </a:r>
            <a:r>
              <a:rPr dirty="0" err="1"/>
              <a:t>azeite</a:t>
            </a:r>
            <a:r>
              <a:rPr dirty="0"/>
              <a:t>, </a:t>
            </a:r>
            <a:r>
              <a:rPr dirty="0" err="1"/>
              <a:t>sal</a:t>
            </a:r>
            <a:r>
              <a:rPr dirty="0"/>
              <a:t>. O </a:t>
            </a:r>
            <a:r>
              <a:rPr dirty="0" err="1"/>
              <a:t>veredicto</a:t>
            </a:r>
            <a:r>
              <a:rPr dirty="0"/>
              <a:t> </a:t>
            </a:r>
            <a:r>
              <a:rPr dirty="0" err="1"/>
              <a:t>muda</a:t>
            </a:r>
            <a:r>
              <a:rPr dirty="0"/>
              <a:t> para 'Sem </a:t>
            </a:r>
            <a:r>
              <a:rPr dirty="0" err="1"/>
              <a:t>Glúten</a:t>
            </a:r>
            <a:r>
              <a:rPr dirty="0"/>
              <a:t>', a </a:t>
            </a:r>
            <a:r>
              <a:rPr dirty="0" err="1"/>
              <a:t>verde</a:t>
            </a:r>
            <a:r>
              <a:rPr dirty="0"/>
              <a:t> — é o </a:t>
            </a:r>
            <a:r>
              <a:rPr dirty="0" err="1"/>
              <a:t>mesmo</a:t>
            </a:r>
            <a:r>
              <a:rPr dirty="0"/>
              <a:t> motor,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a </a:t>
            </a:r>
            <a:r>
              <a:rPr dirty="0" err="1"/>
              <a:t>adivinhar</a:t>
            </a:r>
            <a:r>
              <a:rPr dirty="0"/>
              <a:t>. E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ingredientes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ambíguos</a:t>
            </a:r>
            <a:r>
              <a:rPr dirty="0"/>
              <a:t>, </a:t>
            </a:r>
            <a:r>
              <a:rPr dirty="0" err="1"/>
              <a:t>atribui</a:t>
            </a:r>
            <a:r>
              <a:rPr dirty="0"/>
              <a:t>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médio</a:t>
            </a:r>
            <a:r>
              <a:rPr dirty="0"/>
              <a:t> e </a:t>
            </a:r>
            <a:r>
              <a:rPr dirty="0" err="1"/>
              <a:t>sinaliza</a:t>
            </a:r>
            <a:r>
              <a:rPr dirty="0"/>
              <a:t> a </a:t>
            </a:r>
            <a:r>
              <a:rPr dirty="0" err="1"/>
              <a:t>dúvida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Avaliámos o sistema de duas formas. Na primeira, comparámos os modelos de aprendizagem automática — o melhor foi o Random Forest, com oitenta e oito vírgula sete por cento de exatidão. Mas como os rótulos de treino foram gerados pelas próprias regras, esta avaliação mede sobretudo a capacidade de reproduzir essa lógica. Por isso fizemos uma segunda avaliação, independente e não circular: o pipeline lê só o texto dos ingredientes e comparamos com o campo de alergénios da Open Food Facts, que o sistema nunca consulta. Aqui obtivemos noventa e um vírgula dois por cento de exatidão, com deteção de glúten de quase noventa por cento — que subiu de oitenta quando alargámos o léxico ao inglês e francês.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gráfico mostra a comparação entre os três modelos nas várias métricas. O Random Forest fica à frente em exatidão e F1, seguido da Árvore de Decisão e do Naive Bayes. A classe mais difícil para todos é a dos ingredientes 'suspeitos', ou ambíguos.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Quanto às limitações, somos transparentes. A maior fonte de erro é o OCR: em fotografias reais a confiança ronda os quarenta e oito por cento e parte do texto perde-se, por isso o sistema funciona melhor sobre texto limpo. A base de dados também tem ruído — alguns produtos com glúten não o declaram — o que significa que a precisão real é por vezes superior à medida. E, por opção, preferimos assinalar risco a mais do que a menos: é a escolha mais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 conclusão: cumprimos todos os objetivos do enunciado. Construímos um sistema completo, da imagem ao relatório, que deteta glúten e alergénios, atribui um grau de risco e, acima de tudo, justifica cada decisão de forma explicável.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Obrigado pela atenção.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Análise de Rótulos Alimentares</a:t>
            </a:r>
          </a:p>
          <a:p>
            <a:pPr algn="ctr"/>
            <a:r>
              <a:rPr sz="2400" b="0" i="0">
                <a:solidFill>
                  <a:srgbClr val="CFE0F5"/>
                </a:solidFill>
                <a:latin typeface="Calibri"/>
              </a:rPr>
              <a:t>Deteção de glúten e alergénios com IA explicável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000" b="1" i="0" dirty="0">
                <a:solidFill>
                  <a:srgbClr val="FFFFFF"/>
                </a:solidFill>
                <a:latin typeface="Calibri"/>
              </a:rPr>
              <a:t>Caio Rosa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lang="pt-PT" sz="2000" b="1" dirty="0">
                <a:solidFill>
                  <a:srgbClr val="FFFFFF"/>
                </a:solidFill>
                <a:latin typeface="Calibri"/>
              </a:rPr>
              <a:t>L. Sofia Ferreira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lang="pt-PT" sz="2000" b="1" i="0" dirty="0">
                <a:solidFill>
                  <a:srgbClr val="FFFFFF"/>
                </a:solidFill>
                <a:latin typeface="Calibri"/>
              </a:rPr>
              <a:t>Nadine Jeremias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pt-PT" sz="1600" b="0" i="0" dirty="0">
                <a:solidFill>
                  <a:srgbClr val="CFE0F5"/>
                </a:solidFill>
                <a:latin typeface="Calibri"/>
              </a:rPr>
              <a:t>Introdução à Inteligência Artificial</a:t>
            </a:r>
            <a:r>
              <a:rPr sz="1600" b="0" i="0" dirty="0">
                <a:solidFill>
                  <a:srgbClr val="CFE0F5"/>
                </a:solidFill>
                <a:latin typeface="Calibri"/>
              </a:rPr>
              <a:t>—  </a:t>
            </a:r>
            <a:r>
              <a:rPr lang="pt-PT" sz="1600" b="0" i="0" dirty="0">
                <a:solidFill>
                  <a:srgbClr val="CFE0F5"/>
                </a:solidFill>
                <a:latin typeface="Calibri"/>
              </a:rPr>
              <a:t>Instituto Politécnico de Santarém</a:t>
            </a:r>
            <a:endParaRPr sz="1600" b="0" i="0" dirty="0">
              <a:solidFill>
                <a:srgbClr val="CFE0F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222222"/>
                </a:solidFill>
                <a:latin typeface="Calibri"/>
              </a:rPr>
              <a:t>Para celíacos e alérgicos, ler um rótulo é difícil e demorado.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555555"/>
                </a:solidFill>
                <a:latin typeface="Calibri"/>
              </a:rPr>
              <a:t>Nomes técnicos de ingredientes (amido modificado, maltodextrina…).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555555"/>
                </a:solidFill>
                <a:latin typeface="Calibri"/>
              </a:rPr>
              <a:t>Letra pequena e rótulos em várias línguas.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555555"/>
                </a:solidFill>
                <a:latin typeface="Calibri"/>
              </a:rPr>
              <a:t>Um erro de leitura pode ter consequências de saúde.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A nossa proposta: um sistema de IA que faz esta leitura a partir de uma fotografia do rótulo.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Objetivo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222222"/>
                </a:solidFill>
                <a:latin typeface="Calibri"/>
              </a:rPr>
              <a:t>A partir de uma foto (ou texto) dos ingredientes, devolve:</a:t>
            </a:r>
          </a:p>
          <a:p>
            <a:pPr lvl="1"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– 1. Deteção da presença de glúten.</a:t>
            </a:r>
          </a:p>
          <a:p>
            <a:pPr lvl="1"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– 2. Identificação dos 14 alergénios da UE (Reg. 1169/2011).</a:t>
            </a:r>
          </a:p>
          <a:p>
            <a:pPr lvl="1"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– 3. Sinalização de ingredientes ambíguos.</a:t>
            </a:r>
          </a:p>
          <a:p>
            <a:pPr lvl="1"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– 4. Grau de risco para o consumidor.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CA02C"/>
                </a:solidFill>
                <a:latin typeface="Calibri"/>
              </a:rPr>
              <a:t>Ponto-chave: resultado EXPLICÁVEL — justificação ingrediente a ingrediente.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Arquitetura — pipeline</a:t>
            </a:r>
          </a:p>
        </p:txBody>
      </p:sp>
      <p:pic>
        <p:nvPicPr>
          <p:cNvPr id="4" name="Picture 3" descr="00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576" y="1280160"/>
            <a:ext cx="290454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F4E79"/>
                </a:solidFill>
                <a:latin typeface="Calibri"/>
              </a:rPr>
              <a:t>OCR → NLP → Regras + ML → Explicação → Relatório → Avaliação</a:t>
            </a:r>
          </a:p>
          <a:p>
            <a:r>
              <a:rPr sz="1600" b="0" i="0">
                <a:solidFill>
                  <a:srgbClr val="555555"/>
                </a:solidFill>
                <a:latin typeface="Calibri"/>
              </a:rPr>
              <a:t>Reutiliza conceitos das aulas: Levenshtein/Jaccard, Naive Bayes, Árvores, Random Forest, matriz de confusão.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Porquê não um LLM?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222222"/>
                </a:solidFill>
                <a:latin typeface="Calibri"/>
              </a:rPr>
              <a:t>Objetivo do trabalho: aplicar os conceitos dados nas aulas.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22222"/>
                </a:solidFill>
                <a:latin typeface="Calibri"/>
              </a:rPr>
              <a:t>Explicabilidade: um LLM seria uma caixa preta — não justificaria cada decisão.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22222"/>
                </a:solidFill>
                <a:latin typeface="Calibri"/>
              </a:rPr>
              <a:t>Custo e simplicidade: corre em CPU, sem dependências pesadas.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A justificação por ingrediente é o requisito central — e exige regras transparentes.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Demonstração — aplicação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222222"/>
                </a:solidFill>
                <a:latin typeface="Calibri"/>
              </a:rPr>
              <a:t>Aplicação Flask: cola o texto dos ingredientes ou carrega a foto do rótulo.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D62728"/>
                </a:solidFill>
                <a:latin typeface="Calibri"/>
              </a:rPr>
              <a:t>Caso com glúten → veredicto "Contém Glúten" (vermelho); ❌ no trigo/cevada/aveia.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2CA02C"/>
                </a:solidFill>
                <a:latin typeface="Calibri"/>
              </a:rPr>
              <a:t>Caso seguro → veredicto "Sem Glúten" (verde).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F08C00"/>
                </a:solidFill>
                <a:latin typeface="Calibri"/>
              </a:rPr>
              <a:t>Caso ambíguo → "Médio Risco" (amarelo): sinaliza a dúvida em vez de assumir.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1F4E79"/>
                </a:solidFill>
                <a:latin typeface="Calibri"/>
              </a:rPr>
              <a:t>Cada ingrediente tem a sua justificação — análise explicável de ponta a ponta.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  <a:latin typeface="Calibri"/>
              </a:rPr>
              <a:t>(No vídeo: gravação de ecrã da app a correr — http://127.0.0.1:5000)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Resultados —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222222"/>
                </a:solidFill>
                <a:latin typeface="Calibri"/>
              </a:rPr>
              <a:t>A) Modelos de ML comparados — melhor: Random Forest</a:t>
            </a:r>
          </a:p>
          <a:p>
            <a:pPr lvl="1">
              <a:spcAft>
                <a:spcPts val="1000"/>
              </a:spcAft>
            </a:pPr>
            <a:r>
              <a:rPr sz="2000" b="0" i="0">
                <a:solidFill>
                  <a:srgbClr val="555555"/>
                </a:solidFill>
                <a:latin typeface="Calibri"/>
              </a:rPr>
              <a:t>– Exatidão 88,7% (teste). RF &gt; Árvore de Decisão &gt; Naive Bayes.</a:t>
            </a:r>
          </a:p>
          <a:p>
            <a:pPr lvl="1">
              <a:spcAft>
                <a:spcPts val="1000"/>
              </a:spcAft>
            </a:pPr>
            <a:r>
              <a:rPr sz="2000" b="0" i="0">
                <a:solidFill>
                  <a:srgbClr val="555555"/>
                </a:solidFill>
                <a:latin typeface="Calibri"/>
              </a:rPr>
              <a:t>– Limitação: rótulos gerados pelas próprias regras (supervisão fraca).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222222"/>
                </a:solidFill>
                <a:latin typeface="Calibri"/>
              </a:rPr>
              <a:t>B) Avaliação independente e NÃO circular</a:t>
            </a:r>
          </a:p>
          <a:p>
            <a:pPr lvl="1">
              <a:spcAft>
                <a:spcPts val="1000"/>
              </a:spcAft>
            </a:pPr>
            <a:r>
              <a:rPr sz="2000" b="0" i="0">
                <a:solidFill>
                  <a:srgbClr val="555555"/>
                </a:solidFill>
                <a:latin typeface="Calibri"/>
              </a:rPr>
              <a:t>– Pipeline lê só os ingredientes; compara com o campo 'allergens' da OFF.</a:t>
            </a:r>
          </a:p>
          <a:p>
            <a:pPr lvl="1">
              <a:spcAft>
                <a:spcPts val="1000"/>
              </a:spcAft>
            </a:pPr>
            <a:r>
              <a:rPr sz="2000" b="1" i="0">
                <a:solidFill>
                  <a:srgbClr val="2CA02C"/>
                </a:solidFill>
                <a:latin typeface="Calibri"/>
              </a:rPr>
              <a:t>– Exatidão 91,2%  ·  recall de glúten ~90% (subiu de 80% com léxico EN/FR).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Comparação de modelos</a:t>
            </a:r>
          </a:p>
        </p:txBody>
      </p:sp>
      <p:pic>
        <p:nvPicPr>
          <p:cNvPr id="4" name="Picture 3" descr="08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031" y="1234440"/>
            <a:ext cx="848563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Limitações (assumidas)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222222"/>
                </a:solidFill>
                <a:latin typeface="Calibri"/>
              </a:rPr>
              <a:t>OCR é a maior fonte de erro: ~48% de confiança em fotos reais.</a:t>
            </a:r>
          </a:p>
          <a:p>
            <a:pPr lvl="1">
              <a:spcAft>
                <a:spcPts val="1000"/>
              </a:spcAft>
            </a:pPr>
            <a:r>
              <a:rPr sz="2100" b="0" i="0">
                <a:solidFill>
                  <a:srgbClr val="555555"/>
                </a:solidFill>
                <a:latin typeface="Calibri"/>
              </a:rPr>
              <a:t>– Funciona melhor sobre texto de ingredientes limpo.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222222"/>
                </a:solidFill>
                <a:latin typeface="Calibri"/>
              </a:rPr>
              <a:t>Ground-truth ruidoso: a OFF omite alergénios — a precisão real é por vezes superior.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222222"/>
                </a:solidFill>
                <a:latin typeface="Calibri"/>
              </a:rPr>
              <a:t>Opção deliberada: assinalar risco a mais (mais seguro para o consumidor).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555555"/>
                </a:solidFill>
                <a:latin typeface="Calibri"/>
              </a:rPr>
              <a:t>Línguas cobertas: PT + EN + FR (extensão natural: IT/ES).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222222"/>
                </a:solidFill>
                <a:latin typeface="Calibri"/>
              </a:rPr>
              <a:t>Cumprimos todos os objetivos do enunciado.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555555"/>
                </a:solidFill>
                <a:latin typeface="Calibri"/>
              </a:rPr>
              <a:t>Sistema completo: da imagem ao relatório final.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555555"/>
                </a:solidFill>
                <a:latin typeface="Calibri"/>
              </a:rPr>
              <a:t>Deteta glúten e os 14 alergénios, atribui grau de risco.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CA02C"/>
                </a:solidFill>
                <a:latin typeface="Calibri"/>
              </a:rPr>
              <a:t>Acima de tudo: justifica cada decisão de forma explicável.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555555"/>
                </a:solidFill>
                <a:latin typeface="Calibri"/>
              </a:rPr>
              <a:t>Aplicação web funcional como concretização do enunciado.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 err="1">
                <a:solidFill>
                  <a:srgbClr val="FFFFFF"/>
                </a:solidFill>
                <a:latin typeface="Calibri"/>
              </a:rPr>
              <a:t>Obrigado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pela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atenção</a:t>
            </a:r>
            <a:endParaRPr sz="40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pt-PT" sz="2400" b="1" dirty="0">
                <a:solidFill>
                  <a:srgbClr val="FFFFFF"/>
                </a:solidFill>
              </a:rPr>
              <a:t>Caio Rosa  ·  L. Sofia Ferreira  ·  Nadine Jeremias</a:t>
            </a:r>
          </a:p>
          <a:p>
            <a:pPr algn="ctr"/>
            <a:endParaRPr sz="2200" b="0" i="0" dirty="0">
              <a:solidFill>
                <a:srgbClr val="CFE0F5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1420</Words>
  <Application>Microsoft Office PowerPoint</Application>
  <PresentationFormat>Ecrã Panorâmico</PresentationFormat>
  <Paragraphs>65</Paragraphs>
  <Slides>11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Caio Roberto Rosa</cp:lastModifiedBy>
  <cp:revision>2</cp:revision>
  <dcterms:created xsi:type="dcterms:W3CDTF">2013-01-27T09:14:16Z</dcterms:created>
  <dcterms:modified xsi:type="dcterms:W3CDTF">2026-06-02T09:12:55Z</dcterms:modified>
  <cp:category/>
</cp:coreProperties>
</file>